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3818" autoAdjust="0"/>
  </p:normalViewPr>
  <p:slideViewPr>
    <p:cSldViewPr snapToGrid="0">
      <p:cViewPr varScale="1">
        <p:scale>
          <a:sx n="68" d="100"/>
          <a:sy n="68" d="100"/>
        </p:scale>
        <p:origin x="792" y="78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x.guide/" TargetMode="External"/><Relationship Id="rId2" Type="http://schemas.openxmlformats.org/officeDocument/2006/relationships/hyperlink" Target="https://docs.google.com/spreadsheets/d/1G7PYXLzfx6vfpmGOujSa1-CYzpufrkCo/edit?usp=sharing&amp;ouid=117430849960514197097&amp;rtpof=true&amp;sd=true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343054"/>
            <a:ext cx="4746772" cy="2396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n-lt"/>
                <a:ea typeface="+mj-ea"/>
                <a:cs typeface="+mj-cs"/>
              </a:rPr>
              <a:t>CAPSTONE </a:t>
            </a:r>
            <a:r>
              <a:rPr lang="en-US" sz="2800" b="1" dirty="0">
                <a:latin typeface="+mn-lt"/>
              </a:rPr>
              <a:t>PROJECT</a:t>
            </a:r>
            <a:endParaRPr lang="en-US" sz="5100" dirty="0">
              <a:latin typeface="+mn-lt"/>
            </a:endParaRPr>
          </a:p>
          <a:p>
            <a:pPr algn="l">
              <a:lnSpc>
                <a:spcPct val="120000"/>
              </a:lnSpc>
            </a:pPr>
            <a:br>
              <a:rPr lang="en-US" sz="5100" b="1" dirty="0">
                <a:latin typeface="+mn-lt"/>
              </a:rPr>
            </a:br>
            <a:r>
              <a:rPr lang="en-US" sz="4600" b="1" dirty="0">
                <a:latin typeface="+mn-lt"/>
              </a:rPr>
              <a:t>Amazon Products Sales Analysis Dashboard using Power BI</a:t>
            </a:r>
          </a:p>
          <a:p>
            <a:pPr algn="l"/>
            <a:endParaRPr lang="en-US" sz="5100" b="1" kern="1200" dirty="0">
              <a:latin typeface="+mn-lt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7" y="3739889"/>
            <a:ext cx="4166512" cy="22951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SREEJA KOLAY 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JIS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BCA(CSE)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</a:t>
            </a:r>
            <a:r>
              <a:rPr lang="en-IN" sz="1600" b="1" dirty="0"/>
              <a:t>sreejakolay376@gmail.com</a:t>
            </a:r>
            <a:endParaRPr lang="en-US" sz="1600" b="1" cap="al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288F3F-AD4C-81EA-1336-D2C00EFCC4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9546"/>
            <a:ext cx="4904774" cy="50148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Problem Statement: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sz="2400" dirty="0"/>
              <a:t>Amazon generates a huge amount of sales data across different products, categories, time periods, and regions.</a:t>
            </a:r>
            <a:br>
              <a:rPr lang="en-US" sz="2400" dirty="0"/>
            </a:br>
            <a:r>
              <a:rPr lang="en-US" sz="2400" dirty="0"/>
              <a:t>However, raw data alone does not provide meaningful insights for decision-making.</a:t>
            </a:r>
          </a:p>
          <a:p>
            <a:pPr marL="0" indent="0">
              <a:buNone/>
            </a:pPr>
            <a:r>
              <a:rPr lang="en-US" sz="2400" dirty="0"/>
              <a:t>   The major challenges include:</a:t>
            </a:r>
          </a:p>
          <a:p>
            <a:r>
              <a:rPr lang="en-US" sz="2400" dirty="0"/>
              <a:t>Difficulty in tracking </a:t>
            </a:r>
            <a:r>
              <a:rPr lang="en-US" sz="2400" b="1" dirty="0"/>
              <a:t>sales trends over time</a:t>
            </a:r>
            <a:endParaRPr lang="en-US" sz="2400" dirty="0"/>
          </a:p>
          <a:p>
            <a:r>
              <a:rPr lang="en-US" sz="2400" dirty="0"/>
              <a:t>Lack of clarity on </a:t>
            </a:r>
            <a:r>
              <a:rPr lang="en-US" sz="2400" b="1" dirty="0"/>
              <a:t>top-performing products and categories</a:t>
            </a:r>
            <a:endParaRPr lang="en-US" sz="2400" dirty="0"/>
          </a:p>
          <a:p>
            <a:r>
              <a:rPr lang="en-US" sz="2400" dirty="0"/>
              <a:t>No quick way to analyze </a:t>
            </a:r>
            <a:r>
              <a:rPr lang="en-US" sz="2400" b="1" dirty="0"/>
              <a:t>YTD and QTD performance</a:t>
            </a:r>
            <a:endParaRPr lang="en-US" sz="2400" dirty="0"/>
          </a:p>
          <a:p>
            <a:r>
              <a:rPr lang="en-US" sz="2400" dirty="0"/>
              <a:t>Manual reporting methods are time-consuming and error-prone</a:t>
            </a:r>
          </a:p>
          <a:p>
            <a:r>
              <a:rPr lang="en-US" sz="2400" dirty="0"/>
              <a:t>Hence, there is a need for an </a:t>
            </a:r>
            <a:r>
              <a:rPr lang="en-US" sz="2400" b="1" dirty="0"/>
              <a:t>interactive and visual analytics system</a:t>
            </a:r>
            <a:r>
              <a:rPr lang="en-US" sz="2400" dirty="0"/>
              <a:t> that can transform raw sales data into actionable insights.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304306"/>
            <a:ext cx="10515600" cy="425196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/>
              <a:t>The proposed system is an </a:t>
            </a:r>
            <a:r>
              <a:rPr lang="en-US" sz="2000" b="1" dirty="0"/>
              <a:t>interactive Amazon Sales Analysis Dashboard</a:t>
            </a:r>
            <a:r>
              <a:rPr lang="en-US" sz="2000" dirty="0"/>
              <a:t> developed using </a:t>
            </a:r>
            <a:r>
              <a:rPr lang="en-US" sz="2000" b="1" dirty="0"/>
              <a:t>Microsoft Power BI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    The solution provides:</a:t>
            </a:r>
          </a:p>
          <a:p>
            <a:r>
              <a:rPr lang="en-US" sz="2000" dirty="0"/>
              <a:t>Real-time visualization of </a:t>
            </a:r>
            <a:r>
              <a:rPr lang="en-US" sz="2000" b="1" dirty="0"/>
              <a:t>YTD Sales, QTD Sales, Products Sold, and Reviews</a:t>
            </a:r>
            <a:endParaRPr lang="en-US" sz="2000" dirty="0"/>
          </a:p>
          <a:p>
            <a:r>
              <a:rPr lang="en-US" sz="2000" dirty="0"/>
              <a:t>Monthly and weekly sales trend analysis</a:t>
            </a:r>
          </a:p>
          <a:p>
            <a:r>
              <a:rPr lang="en-US" sz="2000" dirty="0"/>
              <a:t>Category-wise and product-wise sales insights</a:t>
            </a:r>
          </a:p>
          <a:p>
            <a:r>
              <a:rPr lang="en-US" sz="2000" dirty="0"/>
              <a:t>Top 5 products based on </a:t>
            </a:r>
            <a:r>
              <a:rPr lang="en-US" sz="2000" b="1" dirty="0"/>
              <a:t>sales and customer reviews</a:t>
            </a:r>
            <a:endParaRPr lang="en-US" sz="2000" dirty="0"/>
          </a:p>
          <a:p>
            <a:r>
              <a:rPr lang="en-US" sz="2000" dirty="0"/>
              <a:t>User-friendly filters for </a:t>
            </a:r>
            <a:r>
              <a:rPr lang="en-US" sz="2000" b="1" dirty="0"/>
              <a:t>Product Category and Quarter</a:t>
            </a:r>
            <a:endParaRPr lang="en-US" sz="2000" dirty="0"/>
          </a:p>
          <a:p>
            <a:r>
              <a:rPr lang="en-US" sz="2000" dirty="0"/>
              <a:t>This dashboard helps stakeholders make </a:t>
            </a:r>
            <a:r>
              <a:rPr lang="en-US" sz="2000" b="1" dirty="0"/>
              <a:t>data-driven business decisions quickly and efficiently</a:t>
            </a:r>
            <a:r>
              <a:rPr lang="en-US" sz="2000" dirty="0"/>
              <a:t>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IN" sz="2400" b="1" dirty="0"/>
              <a:t>System Requirements</a:t>
            </a:r>
          </a:p>
          <a:p>
            <a:r>
              <a:rPr lang="en-IN" sz="2400" dirty="0"/>
              <a:t>Microsoft Power BI Desktop</a:t>
            </a:r>
          </a:p>
          <a:p>
            <a:r>
              <a:rPr lang="en-IN" sz="2400" dirty="0"/>
              <a:t>Amazon sales dataset (CSV / Excel)</a:t>
            </a:r>
          </a:p>
          <a:p>
            <a:r>
              <a:rPr lang="en-IN" sz="2400" dirty="0"/>
              <a:t>Windows Operating System</a:t>
            </a:r>
          </a:p>
          <a:p>
            <a:pPr marL="0" indent="0">
              <a:buNone/>
            </a:pPr>
            <a:r>
              <a:rPr lang="en-IN" sz="2400" b="1" dirty="0"/>
              <a:t>Libraries / Tools Used</a:t>
            </a:r>
          </a:p>
          <a:p>
            <a:r>
              <a:rPr lang="en-IN" sz="2400" dirty="0"/>
              <a:t>Power BI (DAX, Power Query)</a:t>
            </a:r>
          </a:p>
          <a:p>
            <a:r>
              <a:rPr lang="en-IN" sz="2400" dirty="0"/>
              <a:t>Data </a:t>
            </a:r>
            <a:r>
              <a:rPr lang="en-IN" sz="2400" dirty="0" err="1"/>
              <a:t>Modeling</a:t>
            </a:r>
            <a:r>
              <a:rPr lang="en-IN" sz="2400" dirty="0"/>
              <a:t> techniques</a:t>
            </a:r>
          </a:p>
          <a:p>
            <a:r>
              <a:rPr lang="en-IN" sz="2400" dirty="0"/>
              <a:t>Interactive Visuals and Slicers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Algorithm / Logic Used</a:t>
            </a:r>
          </a:p>
          <a:p>
            <a:r>
              <a:rPr lang="en-US" sz="2000" dirty="0"/>
              <a:t>Data aggregation using </a:t>
            </a:r>
            <a:r>
              <a:rPr lang="en-US" sz="2000" b="1" dirty="0"/>
              <a:t>SUM, COUNT</a:t>
            </a:r>
            <a:endParaRPr lang="en-US" sz="2000" dirty="0"/>
          </a:p>
          <a:p>
            <a:r>
              <a:rPr lang="en-US" sz="2000" dirty="0"/>
              <a:t>Time-based calculations using </a:t>
            </a:r>
            <a:r>
              <a:rPr lang="en-US" sz="2000" b="1" dirty="0"/>
              <a:t>YTD and QTD DAX functions</a:t>
            </a:r>
            <a:endParaRPr lang="en-US" sz="2000" dirty="0"/>
          </a:p>
          <a:p>
            <a:r>
              <a:rPr lang="en-US" sz="2000" dirty="0"/>
              <a:t>Ranking logic for </a:t>
            </a:r>
            <a:r>
              <a:rPr lang="en-US" sz="2000" b="1" dirty="0"/>
              <a:t>Top 5 products</a:t>
            </a:r>
            <a:endParaRPr lang="en-US" sz="2000" dirty="0"/>
          </a:p>
          <a:p>
            <a:r>
              <a:rPr lang="en-US" sz="2000" dirty="0"/>
              <a:t>Date table creation for accurate time intelligence</a:t>
            </a:r>
          </a:p>
          <a:p>
            <a:pPr marL="0" indent="0">
              <a:buNone/>
            </a:pPr>
            <a:r>
              <a:rPr lang="en-US" sz="2000" b="1" dirty="0"/>
              <a:t>Deployment</a:t>
            </a:r>
          </a:p>
          <a:p>
            <a:r>
              <a:rPr lang="en-US" sz="2000" dirty="0"/>
              <a:t>Dashboard developed in </a:t>
            </a:r>
            <a:r>
              <a:rPr lang="en-US" sz="2000" b="1" dirty="0"/>
              <a:t>Power BI Desktop</a:t>
            </a:r>
            <a:endParaRPr lang="en-US" sz="2000" dirty="0"/>
          </a:p>
          <a:p>
            <a:r>
              <a:rPr lang="en-US" sz="2000" dirty="0"/>
              <a:t>Can be published to </a:t>
            </a:r>
            <a:r>
              <a:rPr lang="en-US" sz="2000" b="1" dirty="0"/>
              <a:t>Power BI Service</a:t>
            </a:r>
            <a:endParaRPr lang="en-US" sz="2000" dirty="0"/>
          </a:p>
          <a:p>
            <a:r>
              <a:rPr lang="en-US" sz="2000" dirty="0"/>
              <a:t>Accessible via web or shared within organization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9A8BA1-AAE5-D738-2CEE-AE74F0EA5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0725" y="1584325"/>
            <a:ext cx="7750426" cy="42513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E46866-A493-3F5E-CFA9-3E4A9302C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28" y="1223889"/>
            <a:ext cx="8597509" cy="51909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DAC361-878A-58EC-BAC7-FA019218C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1152" y="1266031"/>
            <a:ext cx="1582196" cy="21629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F4DBB8-CFAB-8EF6-8DC6-A34C51821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1151" y="3709987"/>
            <a:ext cx="1582196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The Amazon Sales Analysis Dashboard successfully converts complex sales data into meaningful visual insights.</a:t>
            </a:r>
            <a:br>
              <a:rPr lang="en-US" sz="2400" dirty="0"/>
            </a:br>
            <a:r>
              <a:rPr lang="en-US" sz="2400" dirty="0"/>
              <a:t>It enables:</a:t>
            </a:r>
          </a:p>
          <a:p>
            <a:r>
              <a:rPr lang="en-US" sz="2400" dirty="0"/>
              <a:t>Faster analysis</a:t>
            </a:r>
          </a:p>
          <a:p>
            <a:r>
              <a:rPr lang="en-US" sz="2400" dirty="0"/>
              <a:t>Better understanding of sales performance</a:t>
            </a:r>
          </a:p>
          <a:p>
            <a:r>
              <a:rPr lang="en-US" sz="2400" dirty="0"/>
              <a:t>Identification of top products and categories</a:t>
            </a:r>
          </a:p>
          <a:p>
            <a:r>
              <a:rPr lang="en-US" sz="2400" dirty="0"/>
              <a:t>This system improves decision-making efficiency and reduces manual reporting efforts.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Integration with </a:t>
            </a:r>
            <a:r>
              <a:rPr lang="en-US" sz="2400" b="1" dirty="0"/>
              <a:t>real-time Amazon sales APIs</a:t>
            </a: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Addition of </a:t>
            </a:r>
            <a:r>
              <a:rPr lang="en-US" sz="2400" b="1" dirty="0"/>
              <a:t>customer demographics analysis</a:t>
            </a: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Predictive sales forecasting using machine learning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Mobile-friendly dashboard version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Role-based access control</a:t>
            </a:r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References: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Aptos" panose="020B0004020202020204"/>
              </a:rPr>
              <a:t>Microsoft Power BI documentation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Aptos" panose="020B0004020202020204"/>
              </a:rPr>
              <a:t>Amazon sales dataset </a:t>
            </a:r>
            <a:r>
              <a:rPr lang="en-US" sz="2400" dirty="0">
                <a:latin typeface="Aptos" panose="020B0004020202020204"/>
                <a:hlinkClick r:id="rId2"/>
              </a:rPr>
              <a:t>https://docs.google.com/spreadsheets/d/1G7PYXLzfx6vfpmGOujSa1-CYzpufrkCo/edit?usp=sharing&amp;ouid=117430849960514197097&amp;rtpof=true&amp;sd=true</a:t>
            </a:r>
            <a:endParaRPr lang="en-US" sz="2400" dirty="0">
              <a:latin typeface="Aptos" panose="020B0004020202020204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Aptos" panose="020B0004020202020204"/>
              </a:rPr>
              <a:t>DAX guide </a:t>
            </a:r>
            <a:r>
              <a:rPr lang="en-US" sz="2400" dirty="0">
                <a:latin typeface="Aptos" panose="020B0004020202020204"/>
                <a:hlinkClick r:id="rId3"/>
              </a:rPr>
              <a:t>https://dax.guide/</a:t>
            </a:r>
            <a:endParaRPr lang="en-US" sz="2400" dirty="0">
              <a:latin typeface="Aptos" panose="020B0004020202020204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Aptos" panose="020B0004020202020204"/>
              </a:rPr>
              <a:t>Power BI community resources</a:t>
            </a:r>
          </a:p>
          <a:p>
            <a:pPr marL="0" indent="0">
              <a:buNone/>
            </a:pPr>
            <a:r>
              <a:rPr lang="en-IN" sz="2200" dirty="0">
                <a:latin typeface="Franklin Gothic Book"/>
              </a:rPr>
              <a:t>GitHub Link:</a:t>
            </a:r>
            <a:r>
              <a:rPr lang="en-IN" sz="2200" dirty="0">
                <a:solidFill>
                  <a:srgbClr val="0070C0"/>
                </a:solidFill>
                <a:latin typeface="Franklin Gothic Book"/>
              </a:rPr>
              <a:t> </a:t>
            </a:r>
            <a:r>
              <a:rPr lang="en-IN" sz="2200" u="sng" dirty="0">
                <a:solidFill>
                  <a:srgbClr val="0070C0"/>
                </a:solidFill>
                <a:latin typeface="Franklin Gothic Book"/>
              </a:rPr>
              <a:t>Link</a:t>
            </a: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457</Words>
  <Application>Microsoft Office PowerPoint</Application>
  <PresentationFormat>Widescreen</PresentationFormat>
  <Paragraphs>75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Franklin Gothic Book</vt:lpstr>
      <vt:lpstr>Wingdings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Debajyoti Koley</cp:lastModifiedBy>
  <cp:revision>109</cp:revision>
  <dcterms:created xsi:type="dcterms:W3CDTF">2024-05-21T11:55:07Z</dcterms:created>
  <dcterms:modified xsi:type="dcterms:W3CDTF">2026-01-13T06:13:20Z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